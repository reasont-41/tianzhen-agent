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24F3D"/>
                </a:solidFill>
                <a:latin typeface="微软雅黑"/>
                <a:ea typeface="微软雅黑"/>
              </a:rPr>
              <a:t>测试集 1088 张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测试集 1088 张</c:v>
                </c:pt>
              </c:strCache>
            </c:strRef>
          </c:tx>
          <c:dPt>
            <c:idx val="0"/>
            <c:spPr>
              <a:solidFill>
                <a:srgbClr val="146C50"/>
              </a:solidFill>
              <a:ln>
                <a:noFill/>
              </a:ln>
            </c:spPr>
          </c:dPt>
          <c:dPt>
            <c:idx val="1"/>
            <c:spPr>
              <a:solidFill>
                <a:srgbClr val="D9A441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接受样本</c:v>
                </c:pt>
                <c:pt idx="1">
                  <c:v>拒识样本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1017</c:v>
                </c:pt>
                <c:pt idx="1">
                  <c:v>71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>
                  <a:solidFill>
                    <a:srgbClr val="FFFFFF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A8D4BF"/>
                </a:solidFill>
                <a:latin typeface="微软雅黑"/>
                <a:ea typeface="微软雅黑"/>
              </a:rPr>
              <a:t>智慧农业 · 智能体创新应用比赛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田诊卫士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000" b="0">
                <a:solidFill>
                  <a:srgbClr val="D7E8DD"/>
                </a:solidFill>
                <a:latin typeface="微软雅黑"/>
                <a:ea typeface="微软雅黑"/>
              </a:rPr>
              <a:t>面向小农户的番茄病害诊断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2000" b="0">
                <a:solidFill>
                  <a:srgbClr val="D7E8DD"/>
                </a:solidFill>
                <a:latin typeface="微软雅黑"/>
                <a:ea typeface="微软雅黑"/>
              </a:rPr>
              <a:t>与安全用药智能体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D9A441"/>
                </a:solidFill>
                <a:latin typeface="微软雅黑"/>
                <a:ea typeface="微软雅黑"/>
              </a:rPr>
              <a:t>大模型规划  ·  工具调用  ·  规则否决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B8D4C5"/>
                </a:solidFill>
                <a:latin typeface="微软雅黑"/>
                <a:ea typeface="微软雅黑"/>
              </a:rPr>
              <a:t>从一句口语描述开始，调用视觉诊断、病害检索、候选记录、规则校验和施药窗口工具，给出可回查的依据与缺口。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A8D4BF"/>
                </a:solidFill>
                <a:latin typeface="微软雅黑"/>
                <a:ea typeface="微软雅黑"/>
              </a:rPr>
              <a:t>“码上智农，电亮未来”智能体创新应用比赛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1675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A8D4BF"/>
                </a:solidFill>
                <a:latin typeface="微软雅黑"/>
                <a:ea typeface="微软雅黑"/>
              </a:rPr>
              <a:t>团队：【队名】  ·  2026 年 10 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8544" y="1152144"/>
            <a:ext cx="5148072" cy="29677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983480" cy="28032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20840" y="431596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A8D4BF"/>
                </a:solidFill>
                <a:latin typeface="微软雅黑"/>
                <a:ea typeface="微软雅黑"/>
              </a:rPr>
              <a:t>真实运行界面：对话 + 工具轨迹 + 逐条校验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01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识别出病名，不等于能安全用药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146C50"/>
                </a:solidFill>
                <a:latin typeface="微软雅黑"/>
                <a:ea typeface="微软雅黑"/>
              </a:rPr>
              <a:t>真正的风险，发生在识别之后。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61766D"/>
                </a:solidFill>
                <a:latin typeface="微软雅黑"/>
                <a:ea typeface="微软雅黑"/>
              </a:rPr>
              <a:t>小农户拿到一个病名之后，还要完成一整套决策：查登记、核剂量、算间隔期、看次数、等窗口。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8372E"/>
                </a:solidFill>
                <a:latin typeface="微软雅黑"/>
                <a:ea typeface="微软雅黑"/>
              </a:rPr>
              <a:t>登记作物和防治对象是否匹配？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8372E"/>
                </a:solidFill>
                <a:latin typeface="微软雅黑"/>
                <a:ea typeface="微软雅黑"/>
              </a:rPr>
              <a:t>剂量、单位、安全间隔期是否满足？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8372E"/>
                </a:solidFill>
                <a:latin typeface="微软雅黑"/>
                <a:ea typeface="微软雅黑"/>
              </a:rPr>
              <a:t>本季次数是否超限，什么时候能打？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4572000" cy="100584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5212080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875A12"/>
                </a:solidFill>
                <a:latin typeface="微软雅黑"/>
                <a:ea typeface="微软雅黑"/>
              </a:rPr>
              <a:t>5 天后采收 + 15 天安全间隔期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>
                <a:solidFill>
                  <a:srgbClr val="875A12"/>
                </a:solidFill>
                <a:latin typeface="微软雅黑"/>
                <a:ea typeface="微软雅黑"/>
              </a:rPr>
              <a:t>→ 代森锰锌被直接拦截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173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一次问诊的完整链路</a:t>
            </a:r>
          </a:p>
        </p:txBody>
      </p:sp>
      <p:sp>
        <p:nvSpPr>
          <p:cNvPr id="10" name="Oval 9"/>
          <p:cNvSpPr/>
          <p:nvPr/>
        </p:nvSpPr>
        <p:spPr>
          <a:xfrm>
            <a:off x="5532120" y="1947672"/>
            <a:ext cx="475488" cy="475488"/>
          </a:xfrm>
          <a:prstGeom prst="ellipse">
            <a:avLst/>
          </a:prstGeom>
          <a:solidFill>
            <a:srgbClr val="12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007107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745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农户描述 / 拍照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762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口语症状、叶片照片、采收计划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9864" y="2496312"/>
            <a:ext cx="0" cy="310896"/>
          </a:xfrm>
          <a:prstGeom prst="line">
            <a:avLst/>
          </a:prstGeom>
          <a:ln w="15240">
            <a:solidFill>
              <a:srgbClr val="CFE0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32120" y="3044952"/>
            <a:ext cx="475488" cy="475488"/>
          </a:xfrm>
          <a:prstGeom prst="ellipse">
            <a:avLst/>
          </a:prstGeom>
          <a:solidFill>
            <a:srgbClr val="12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310438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8036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9718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智能体理解与追问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2735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信息不足先澄清，不猜病名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9864" y="3593591"/>
            <a:ext cx="0" cy="310896"/>
          </a:xfrm>
          <a:prstGeom prst="line">
            <a:avLst/>
          </a:prstGeom>
          <a:ln w="15240">
            <a:solidFill>
              <a:srgbClr val="CFE0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32120" y="4142231"/>
            <a:ext cx="475488" cy="475488"/>
          </a:xfrm>
          <a:prstGeom prst="ellipse">
            <a:avLst/>
          </a:prstGeom>
          <a:solidFill>
            <a:srgbClr val="12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420166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977639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40690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调用工具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3708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诊断、检索、候选、校验、窗口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9864" y="4690872"/>
            <a:ext cx="0" cy="310896"/>
          </a:xfrm>
          <a:prstGeom prst="line">
            <a:avLst/>
          </a:prstGeom>
          <a:ln w="15240">
            <a:solidFill>
              <a:srgbClr val="CFE0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32120" y="5239512"/>
            <a:ext cx="475488" cy="47548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529894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07492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516635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规则否决与回答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54681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通过 / 待核验 / 拦截，附来源和缺口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02 · 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小农户的真实问题，是一个连续决策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627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D9A44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011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24F3D"/>
                </a:solidFill>
                <a:latin typeface="微软雅黑"/>
                <a:ea typeface="微软雅黑"/>
              </a:rPr>
              <a:t>看到症状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957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叶背白毛、茎上黑斑，描述模糊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2240280"/>
            <a:ext cx="146304" cy="0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50876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27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D9A44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011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24F3D"/>
                </a:solidFill>
                <a:latin typeface="微软雅黑"/>
                <a:ea typeface="微软雅黑"/>
              </a:rPr>
              <a:t>判断病害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3957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像晚疫病，但不能确诊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63056" y="2240280"/>
            <a:ext cx="146304" cy="0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50876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627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D9A44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011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24F3D"/>
                </a:solidFill>
                <a:latin typeface="微软雅黑"/>
                <a:ea typeface="微软雅黑"/>
              </a:rPr>
              <a:t>查药核对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957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登记？剂量？间隔期？次数？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89136" y="2240280"/>
            <a:ext cx="146304" cy="0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1160" y="1508760"/>
            <a:ext cx="2697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2" y="1627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D9A44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0116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24F3D"/>
                </a:solidFill>
                <a:latin typeface="微软雅黑"/>
                <a:ea typeface="微软雅黑"/>
              </a:rPr>
              <a:t>决定何时打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3957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天气、采收期、可用窗口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E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74903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146C50"/>
                </a:solidFill>
                <a:latin typeface="微软雅黑"/>
                <a:ea typeface="微软雅黑"/>
              </a:rPr>
              <a:t>我们做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133087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理解口语和照片，先判断信息够不够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检索知识库并逐条做确定性校验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展示来源、核验状态和模拟窗口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把缺失信息问出来，而不是补猜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74903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>
                <a:solidFill>
                  <a:srgbClr val="875A12"/>
                </a:solidFill>
                <a:latin typeface="微软雅黑"/>
                <a:ea typeface="微软雅黑"/>
              </a:rPr>
              <a:t>我们不做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133087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75A12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875A12"/>
                </a:solidFill>
                <a:latin typeface="微软雅黑"/>
                <a:ea typeface="微软雅黑"/>
              </a:rPr>
              <a:t>不替代农技员做最终诊断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75A12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875A12"/>
                </a:solidFill>
                <a:latin typeface="微软雅黑"/>
                <a:ea typeface="微软雅黑"/>
              </a:rPr>
              <a:t>不签发正式田间处方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75A12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875A12"/>
                </a:solidFill>
                <a:latin typeface="微软雅黑"/>
                <a:ea typeface="微软雅黑"/>
              </a:rPr>
              <a:t>不把模拟天气说成当地预报</a:t>
            </a:r>
          </a:p>
          <a:p>
            <a:pPr marL="171450" indent="-171450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75A12"/>
                </a:solidFill>
                <a:latin typeface="微软雅黑"/>
                <a:ea typeface="微软雅黑"/>
              </a:rPr>
              <a:t>▪  </a:t>
            </a:r>
            <a:r>
              <a:rPr sz="1150" b="0">
                <a:solidFill>
                  <a:srgbClr val="875A12"/>
                </a:solidFill>
                <a:latin typeface="微软雅黑"/>
                <a:ea typeface="微软雅黑"/>
              </a:rPr>
              <a:t>不把待核验数据说成已通过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目标：把依据和缺口摆到桌面上，而不是给一个看似确定的答案。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03 ·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智能体架构：大模型规划，规则引擎否决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14600"/>
            <a:ext cx="1600200" cy="1143000"/>
          </a:xfrm>
          <a:prstGeom prst="roundRect">
            <a:avLst>
              <a:gd name="adj" fmla="val 10000"/>
            </a:avLst>
          </a:prstGeom>
          <a:solidFill>
            <a:srgbClr val="E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697480"/>
            <a:ext cx="1417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124F3D"/>
                </a:solidFill>
                <a:latin typeface="微软雅黑"/>
                <a:ea typeface="微软雅黑"/>
              </a:rPr>
              <a:t>用户</a:t>
            </a:r>
          </a:p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124F3D"/>
                </a:solidFill>
                <a:latin typeface="微软雅黑"/>
                <a:ea typeface="微软雅黑"/>
              </a:rPr>
              <a:t>口语 / 照片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1408" y="3090672"/>
            <a:ext cx="548640" cy="0"/>
          </a:xfrm>
          <a:prstGeom prst="line">
            <a:avLst/>
          </a:prstGeom>
          <a:ln w="20320">
            <a:solidFill>
              <a:srgbClr val="146C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97480" y="2103120"/>
            <a:ext cx="3017520" cy="2011680"/>
          </a:xfrm>
          <a:prstGeom prst="roundRect">
            <a:avLst>
              <a:gd name="adj" fmla="val 8000"/>
            </a:avLst>
          </a:prstGeom>
          <a:solidFill>
            <a:srgbClr val="12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2267712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大模型规划器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2670048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D7E8DD"/>
                </a:solidFill>
                <a:latin typeface="微软雅黑"/>
                <a:ea typeface="微软雅黑"/>
              </a:rPr>
              <a:t>理解 · 追问 · 选择工具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D7E8DD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D7E8DD"/>
                </a:solidFill>
                <a:latin typeface="微软雅黑"/>
                <a:ea typeface="微软雅黑"/>
              </a:rPr>
              <a:t>不直接生成农药剂量、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D7E8DD"/>
                </a:solidFill>
                <a:latin typeface="微软雅黑"/>
                <a:ea typeface="微软雅黑"/>
              </a:rPr>
              <a:t>间隔期或登记证号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工具（function calling）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27632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733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get_leaf_diagnosis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6733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视觉诊断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39696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8541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search_disease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85415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症状检索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6974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get_candidate_records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697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候选记录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163824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20954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validate_prescription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2095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规则校验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75888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72160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get_spray_window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721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施药窗口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87952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2336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ask_user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2336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追问澄清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700016"/>
            <a:ext cx="2331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7457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860" b="1">
                <a:solidFill>
                  <a:srgbClr val="124F3D"/>
                </a:solidFill>
                <a:latin typeface="微软雅黑"/>
                <a:ea typeface="微软雅黑"/>
              </a:rPr>
              <a:t>get_kb_status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7457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830" b="0">
                <a:solidFill>
                  <a:srgbClr val="61766D"/>
                </a:solidFill>
                <a:latin typeface="微软雅黑"/>
                <a:ea typeface="微软雅黑"/>
              </a:rPr>
              <a:t>知识库状态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42432" y="3090672"/>
            <a:ext cx="585216" cy="0"/>
          </a:xfrm>
          <a:prstGeom prst="line">
            <a:avLst/>
          </a:prstGeom>
          <a:ln w="20320">
            <a:solidFill>
              <a:srgbClr val="146C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2432" y="283464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1766D"/>
                </a:solidFill>
                <a:latin typeface="微软雅黑"/>
                <a:ea typeface="微软雅黑"/>
              </a:rPr>
              <a:t>tool calls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466344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2928" y="477316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875A12"/>
                </a:solidFill>
                <a:latin typeface="微软雅黑"/>
                <a:ea typeface="微软雅黑"/>
              </a:rPr>
              <a:t>确定性规则引擎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50932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875A12"/>
                </a:solidFill>
                <a:latin typeface="微软雅黑"/>
                <a:ea typeface="微软雅黑"/>
              </a:rPr>
              <a:t>8 条规则 · 逐条裁决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206240" y="4160520"/>
            <a:ext cx="0" cy="457200"/>
          </a:xfrm>
          <a:prstGeom prst="line">
            <a:avLst/>
          </a:prstGeom>
          <a:ln w="19050">
            <a:solidFill>
              <a:srgbClr val="6176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00800" y="5303520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12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53949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通过 / 待核验 / 拦截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+ 来源 + 模拟窗口 + 安全边界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42432" y="5212080"/>
            <a:ext cx="585216" cy="0"/>
          </a:xfrm>
          <a:prstGeom prst="line">
            <a:avLst/>
          </a:prstGeom>
          <a:ln w="19050">
            <a:solidFill>
              <a:srgbClr val="6176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模型负责理解与规划；代码负责事实与否决。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04 · 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一次完整对话：从症状到逐条裁决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" y="1289304"/>
            <a:ext cx="6611112" cy="37907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446520" cy="3626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4173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D9A44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1399032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169164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晚疫病 9.04；灰霉 3.46；早疫 2.50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9842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DCE7DF"/>
                </a:solidFill>
                <a:latin typeface="微软雅黑"/>
                <a:ea typeface="微软雅黑"/>
              </a:rPr>
              <a:t>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677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D9A44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24942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候选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542032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5 条知识库记录，全部待核验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83464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DCE7DF"/>
                </a:solidFill>
                <a:latin typeface="微软雅黑"/>
                <a:ea typeface="微软雅黑"/>
              </a:rPr>
              <a:t>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11810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D9A44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3099816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3392424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代森锰锌拦截；其余 4 条待补充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68503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DCE7DF"/>
                </a:solidFill>
                <a:latin typeface="微软雅黑"/>
                <a:ea typeface="微软雅黑"/>
              </a:rPr>
              <a:t>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9684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D9A44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395020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窗口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4242816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10/21 06:00–08:00；最晚 10/22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4535424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DCE7DF"/>
                </a:solidFill>
                <a:latin typeface="微软雅黑"/>
                <a:ea typeface="微软雅黑"/>
              </a:rPr>
              <a:t>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8188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D9A441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800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回答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509320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结论、依据、待补信息、边界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截图来自真实 DeepSeek 运行：工具调用 5 次，回答保留来源和未核验原因。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05 · 工具链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工具调用轨迹：每一次回答都能回查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" y="1289304"/>
            <a:ext cx="6611112" cy="37907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446520" cy="362616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417320"/>
          <a:ext cx="4343399" cy="3438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/>
                <a:gridCol w="2468880"/>
              </a:tblGrid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24F3D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marL="73152" marR="73152" marT="36576" marB="36576" anchor="ctr">
                    <a:solidFill>
                      <a:srgbClr val="E6F1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24F3D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73152" marR="73152" marT="36576" marB="36576" anchor="ctr">
                    <a:solidFill>
                      <a:srgbClr val="E6F1E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get_leaf_diagnosis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读取叶片视觉诊断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search_disease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口语症状 → 候选病害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get_candidate_records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读取药剂记录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validate_prescription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逐条规则校验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get_spray_window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按药剂算窗口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ask_user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信息不足时追问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get_kb_status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知识库覆盖范围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5074920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工具结果是事实来源；模型输出是解释层。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每次回答都能看到：调用了什么、用了哪条记录、哪条规则拦截。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06 · 视觉诊断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先拒识，再分类：不让无效图片进入用药流程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" y="1335024"/>
            <a:ext cx="5148072" cy="443614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983480" cy="4271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98602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冻结测试集 1088 张 · 混淆矩阵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600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46C50"/>
                </a:solidFill>
                <a:latin typeface="微软雅黑"/>
                <a:ea typeface="微软雅黑"/>
              </a:rPr>
              <a:t>96.88%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1671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总体准确率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600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46C50"/>
                </a:solidFill>
                <a:latin typeface="微软雅黑"/>
                <a:ea typeface="微软雅黑"/>
              </a:rPr>
              <a:t>6.53%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671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测试集拒识率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2004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46C50"/>
                </a:solidFill>
                <a:latin typeface="微软雅黑"/>
                <a:ea typeface="微软雅黑"/>
              </a:rPr>
              <a:t>98.82%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767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接受样本准确率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2004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>
                <a:solidFill>
                  <a:srgbClr val="146C50"/>
                </a:solidFill>
                <a:latin typeface="微软雅黑"/>
                <a:ea typeface="微软雅黑"/>
              </a:rPr>
              <a:t>0.941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673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验证集确定阈值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80060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E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491947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00" b="0">
                <a:solidFill>
                  <a:srgbClr val="146C50"/>
                </a:solidFill>
                <a:latin typeface="微软雅黑"/>
                <a:ea typeface="微软雅黑"/>
              </a:rPr>
              <a:t>纯色、低纹理、严重模糊或过小图片在推理前拒绝；只覆盖番茄四类，非叶片仍需独立评测。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来源：PlantVillage 公开数据集；阈值由验证集确定，测试集不参与选择。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07 · 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口语症状检索：把‘像什么’和‘是什么’分开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029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73351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8372E"/>
                </a:solidFill>
                <a:latin typeface="微软雅黑"/>
                <a:ea typeface="微软雅黑"/>
              </a:rPr>
              <a:t>口语描述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2194560"/>
            <a:ext cx="0" cy="301752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532888"/>
            <a:ext cx="5029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8372E"/>
                </a:solidFill>
                <a:latin typeface="微软雅黑"/>
                <a:ea typeface="微软雅黑"/>
              </a:rPr>
              <a:t>否定片段剔除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3218688"/>
            <a:ext cx="0" cy="301752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3557016"/>
            <a:ext cx="50292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2160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>
                <a:solidFill>
                  <a:srgbClr val="18372E"/>
                </a:solidFill>
                <a:latin typeface="微软雅黑"/>
                <a:ea typeface="微软雅黑"/>
              </a:rPr>
              <a:t>别名 + 症状加权 + BM25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4242816"/>
            <a:ext cx="0" cy="301752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4581144"/>
            <a:ext cx="5029200" cy="658368"/>
          </a:xfrm>
          <a:prstGeom prst="roundRect">
            <a:avLst>
              <a:gd name="adj" fmla="val 10000"/>
            </a:avLst>
          </a:prstGeom>
          <a:solidFill>
            <a:srgbClr val="E6F1E8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4573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24F3D"/>
                </a:solidFill>
                <a:latin typeface="微软雅黑"/>
                <a:ea typeface="微软雅黑"/>
              </a:rPr>
              <a:t>候选病害 + 检索分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875A12"/>
                </a:solidFill>
                <a:latin typeface="微软雅黑"/>
                <a:ea typeface="微软雅黑"/>
              </a:rPr>
              <a:t>检索分只表示文字相关性，不是确诊概率。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5532120" cy="1828800"/>
          </a:xfrm>
          <a:prstGeom prst="roundRect">
            <a:avLst>
              <a:gd name="adj" fmla="val 8000"/>
            </a:avLst>
          </a:prstGeom>
          <a:solidFill>
            <a:srgbClr val="E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6093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46C50"/>
                </a:solidFill>
                <a:latin typeface="微软雅黑"/>
                <a:ea typeface="微软雅黑"/>
              </a:rPr>
              <a:t>有明确症状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65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24F3D"/>
                </a:solidFill>
                <a:latin typeface="微软雅黑"/>
                <a:ea typeface="微软雅黑"/>
              </a:rPr>
              <a:t>“叶子背面长白毛，茎上有黑斑”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3774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→ 晚疫病 9.04 · 灰霉 3.46 · 早疫 2.50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20440"/>
            <a:ext cx="5532120" cy="18288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675887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875A12"/>
                </a:solidFill>
                <a:latin typeface="微软雅黑"/>
                <a:ea typeface="微软雅黑"/>
              </a:rPr>
              <a:t>否定 / 证据不足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0233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875A12"/>
                </a:solidFill>
                <a:latin typeface="微软雅黑"/>
                <a:ea typeface="微软雅黑"/>
              </a:rPr>
              <a:t>“没有白毛，也不是晚疫病”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4348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>
                <a:solidFill>
                  <a:srgbClr val="875A12"/>
                </a:solidFill>
                <a:latin typeface="微软雅黑"/>
                <a:ea typeface="微软雅黑"/>
              </a:rPr>
              <a:t>→ 先追问发生部位、病斑形态和霉层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>
                <a:solidFill>
                  <a:srgbClr val="875A12"/>
                </a:solidFill>
                <a:latin typeface="微软雅黑"/>
                <a:ea typeface="微软雅黑"/>
              </a:rPr>
              <a:t>→ 不生成用药条目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否定描述先剔除；候选接近或证据弱时澄清，而不是猜一个病名。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08 · 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逐条规则校验：把‘能说’变成‘能过’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508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来源与身份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37944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编号、名称、剂型、证号一致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17320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5087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508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禁用清单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837944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命中即拦截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96312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58775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5877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限用范围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916936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作物受限或范围不明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496312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258775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5877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作物匹配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916936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依据记录必须同作物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66674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6667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防治对象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9959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依据记录必须同病害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575304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7248" y="366674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36667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剂量与单位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39959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同量纲换算，缺失不判过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54296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74573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7457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间隔期与采收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50749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不得短于依据值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654296"/>
            <a:ext cx="23591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474573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D9A441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47457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20" b="1">
                <a:solidFill>
                  <a:srgbClr val="124F3D"/>
                </a:solidFill>
                <a:latin typeface="微软雅黑"/>
                <a:ea typeface="微软雅黑"/>
              </a:rPr>
              <a:t>每季次数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7248" y="50749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40" b="0">
                <a:solidFill>
                  <a:srgbClr val="61766D"/>
                </a:solidFill>
                <a:latin typeface="微软雅黑"/>
                <a:ea typeface="微软雅黑"/>
              </a:rPr>
              <a:t>达到上限不再推荐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32704" y="1335024"/>
            <a:ext cx="6108192" cy="35078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17320"/>
            <a:ext cx="5943600" cy="33432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0" y="48920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24F3D"/>
                </a:solidFill>
                <a:latin typeface="微软雅黑"/>
                <a:ea typeface="微软雅黑"/>
              </a:rPr>
              <a:t>逐条展示：通过 / 待核验 / 拦截 + 原因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525780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blocked 条目不推荐；needs_review 必须标注“待核验/需补充”；同一药剂的多个条目按索引分别裁决，不因同名串联。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09 · 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施药窗口：从‘能用什么’到‘什么时候能打’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73351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未来 72 小时逐时天气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27248" y="2194560"/>
            <a:ext cx="0" cy="301752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532888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降雨 · 风速 · 温度 · 湿度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3218688"/>
            <a:ext cx="0" cy="301752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3557016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21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18372E"/>
                </a:solidFill>
                <a:latin typeface="微软雅黑"/>
                <a:ea typeface="微软雅黑"/>
              </a:rPr>
              <a:t>清晨 06–09 / 傍晚 16–19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27248" y="4242816"/>
            <a:ext cx="0" cy="301752"/>
          </a:xfrm>
          <a:prstGeom prst="line">
            <a:avLst/>
          </a:prstGeom>
          <a:ln w="16510">
            <a:solidFill>
              <a:srgbClr val="A9C9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4581144"/>
            <a:ext cx="5257800" cy="658368"/>
          </a:xfrm>
          <a:prstGeom prst="roundRect">
            <a:avLst>
              <a:gd name="adj" fmla="val 10000"/>
            </a:avLst>
          </a:prstGeom>
          <a:solidFill>
            <a:srgbClr val="E6F1E8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4573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124F3D"/>
                </a:solidFill>
                <a:latin typeface="微软雅黑"/>
                <a:ea typeface="微软雅黑"/>
              </a:rPr>
              <a:t>按药剂倒推最晚施药日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6304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24F3D"/>
                </a:solidFill>
                <a:latin typeface="微软雅黑"/>
                <a:ea typeface="微软雅黑"/>
              </a:rPr>
              <a:t>模拟窗口（以烯酰吗啉为例）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1">
                <a:solidFill>
                  <a:srgbClr val="146C50"/>
                </a:solidFill>
                <a:latin typeface="微软雅黑"/>
                <a:ea typeface="微软雅黑"/>
              </a:rPr>
              <a:t>10/21  06:00–08:00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42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61766D"/>
                </a:solidFill>
                <a:latin typeface="微软雅黑"/>
                <a:ea typeface="微软雅黑"/>
              </a:rPr>
              <a:t>首选窗口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077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146C50"/>
                </a:solidFill>
                <a:latin typeface="微软雅黑"/>
                <a:ea typeface="微软雅黑"/>
              </a:rPr>
              <a:t>10/22  16:00–19:00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467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备选窗口 · 风速 2–3 级，建议降低喷头或加防风罩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40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875A12"/>
                </a:solidFill>
                <a:latin typeface="微软雅黑"/>
                <a:ea typeface="微软雅黑"/>
              </a:rPr>
              <a:t>最晚施药日 10/22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60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窗口按每种药剂分别计算；已排除已开始的小时。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61320" y="1627632"/>
            <a:ext cx="914400" cy="292608"/>
          </a:xfrm>
          <a:prstGeom prst="roundRect">
            <a:avLst>
              <a:gd name="adj" fmla="val 20000"/>
            </a:avLst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16642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850" b="1">
                <a:solidFill>
                  <a:srgbClr val="875A12"/>
                </a:solidFill>
                <a:latin typeface="微软雅黑"/>
                <a:ea typeface="微软雅黑"/>
              </a:rPr>
              <a:t>模拟天气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61766D"/>
                </a:solidFill>
                <a:latin typeface="微软雅黑"/>
                <a:ea typeface="微软雅黑"/>
              </a:rPr>
              <a:t>窗口按每种药剂分别计算；过滤已开始的小时和超过最晚施药日的日期；不是当地预报。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10 ·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安全边界：把‘不知道’显式暴露出来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2331720"/>
            <a:ext cx="5989320" cy="1097280"/>
          </a:xfrm>
          <a:prstGeom prst="roundRect">
            <a:avLst>
              <a:gd name="adj" fmla="val 10000"/>
            </a:avLst>
          </a:prstGeom>
          <a:solidFill>
            <a:srgbClr val="12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6120" y="2468880"/>
            <a:ext cx="5715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ready_for_field_use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907792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D7E8DD"/>
                </a:solidFill>
                <a:latin typeface="微软雅黑"/>
                <a:ea typeface="微软雅黑"/>
              </a:rPr>
              <a:t>竞赛演示，不签发正式田间处方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24F3D"/>
                </a:solidFill>
                <a:latin typeface="微软雅黑"/>
                <a:ea typeface="微软雅黑"/>
              </a:rPr>
              <a:t>未提供次数 ≠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不把未知当零次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173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1527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24F3D"/>
                </a:solidFill>
                <a:latin typeface="微软雅黑"/>
                <a:ea typeface="微软雅黑"/>
              </a:rPr>
              <a:t>图文冲突先澄清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8928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不猜病名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24F3D"/>
                </a:solidFill>
                <a:latin typeface="微软雅黑"/>
                <a:ea typeface="微软雅黑"/>
              </a:rPr>
              <a:t>纯色 / 模糊图片拒识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1596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推理前拦截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8404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39502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24F3D"/>
                </a:solidFill>
                <a:latin typeface="微软雅黑"/>
                <a:ea typeface="微软雅黑"/>
              </a:rPr>
              <a:t>待核验只作演示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31596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不混入正式通过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24F3D"/>
                </a:solidFill>
                <a:latin typeface="微软雅黑"/>
                <a:ea typeface="微软雅黑"/>
              </a:rPr>
              <a:t>知识库 40 条药剂记录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40680"/>
            <a:ext cx="6720840" cy="384048"/>
          </a:xfrm>
          <a:prstGeom prst="roundRect">
            <a:avLst>
              <a:gd name="adj" fmla="val 20000"/>
            </a:avLst>
          </a:prstGeom>
          <a:solidFill>
            <a:srgbClr val="E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5440680"/>
            <a:ext cx="1008125" cy="384048"/>
          </a:xfrm>
          <a:prstGeom prst="roundRect">
            <a:avLst>
              <a:gd name="adj" fmla="val 20000"/>
            </a:avLst>
          </a:prstGeom>
          <a:solidFill>
            <a:srgbClr val="146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54589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6 条团队标准比对  ·  34 条待核验  ·  0 条现行登记核验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标准比对不等于具体产品登记核验；待核验资料只能作为演示预览。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11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受控数据上的可复现结果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146C50"/>
                </a:solidFill>
                <a:latin typeface="微软雅黑"/>
                <a:ea typeface="微软雅黑"/>
              </a:rPr>
              <a:t>96.88%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8249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总体准确率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334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146C50"/>
                </a:solidFill>
                <a:latin typeface="微软雅黑"/>
                <a:ea typeface="微软雅黑"/>
              </a:rPr>
              <a:t>6.53%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测试集拒识率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12463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146C50"/>
                </a:solidFill>
                <a:latin typeface="微软雅黑"/>
                <a:ea typeface="微软雅黑"/>
              </a:rPr>
              <a:t>98.82%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84047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接受样本准确率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9145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146C50"/>
                </a:solidFill>
                <a:latin typeface="微软雅黑"/>
                <a:ea typeface="微软雅黑"/>
              </a:rPr>
              <a:t>36 /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19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1766D"/>
                </a:solidFill>
                <a:latin typeface="微软雅黑"/>
                <a:ea typeface="微软雅黑"/>
              </a:rPr>
              <a:t>固定标签功能基准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146C50"/>
                </a:solidFill>
                <a:latin typeface="微软雅黑"/>
                <a:ea typeface="微软雅黑"/>
              </a:rPr>
              <a:t>60 项自动化测试全部通过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92240" y="1508760"/>
          <a:ext cx="49377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92240" y="5486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61766D"/>
                </a:solidFill>
                <a:latin typeface="微软雅黑"/>
                <a:ea typeface="微软雅黑"/>
              </a:rPr>
              <a:t>接受 1017 张 · 拒识 71 张；拒识率 6.53%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来源：PlantVillage 公开数据集 + 本项目实跑；阈值由验证集确定；不是田间安全率。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12 · 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700" b="1">
                <a:solidFill>
                  <a:srgbClr val="124F3D"/>
                </a:solidFill>
                <a:latin typeface="微软雅黑"/>
                <a:ea typeface="微软雅黑"/>
              </a:rPr>
              <a:t>让智能体‘能做事’，也让结果‘能核对’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704088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2514600"/>
                <a:gridCol w="3291840"/>
              </a:tblGrid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24F3D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73152" marR="73152" marT="36576" marB="36576" anchor="ctr">
                    <a:solidFill>
                      <a:srgbClr val="E6F1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24F3D"/>
                          </a:solidFill>
                          <a:latin typeface="微软雅黑"/>
                          <a:ea typeface="微软雅黑"/>
                        </a:rPr>
                        <a:t>通用问答 / 识别工具</a:t>
                      </a:r>
                    </a:p>
                  </a:txBody>
                  <a:tcPr marL="73152" marR="73152" marT="36576" marB="36576" anchor="ctr">
                    <a:solidFill>
                      <a:srgbClr val="E6F1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24F3D"/>
                          </a:solidFill>
                          <a:latin typeface="微软雅黑"/>
                          <a:ea typeface="微软雅黑"/>
                        </a:rPr>
                        <a:t>田诊卫士智能体</a:t>
                      </a:r>
                    </a:p>
                  </a:txBody>
                  <a:tcPr marL="73152" marR="73152" marT="36576" marB="36576" anchor="ctr">
                    <a:solidFill>
                      <a:srgbClr val="E6F1E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依据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只给答案，来源不稳定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每条记录可回查，标注核验状态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剂量与次数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容易给出笼统建议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逐条检查剂量、间隔期、每季次数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不确定时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可能猜一个答案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先追问或拒识，不生成用药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安全边界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难以审计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8372E"/>
                          </a:solidFill>
                          <a:latin typeface="微软雅黑"/>
                          <a:ea typeface="微软雅黑"/>
                        </a:rPr>
                        <a:t>blocked 不推荐，ready_for_field_use=false</a:t>
                      </a:r>
                    </a:p>
                  </a:txBody>
                  <a:tcPr marL="73152" marR="73152" marT="36576" marB="36576" anchor="ctr"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8000"/>
            </a:avLst>
          </a:prstGeom>
          <a:solidFill>
            <a:srgbClr val="E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600200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800" b="1">
                <a:solidFill>
                  <a:srgbClr val="124F3D"/>
                </a:solidFill>
                <a:latin typeface="微软雅黑"/>
                <a:ea typeface="微软雅黑"/>
              </a:rPr>
              <a:t>“不是替代农技员，而是把依据和缺口摆到桌面上。”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15468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050" b="0">
                <a:solidFill>
                  <a:srgbClr val="18372E"/>
                </a:solidFill>
                <a:latin typeface="微软雅黑"/>
                <a:ea typeface="微软雅黑"/>
              </a:rPr>
              <a:t>小农户：少一次盲目用药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050" b="0">
                <a:solidFill>
                  <a:srgbClr val="18372E"/>
                </a:solidFill>
                <a:latin typeface="微软雅黑"/>
                <a:ea typeface="微软雅黑"/>
              </a:rPr>
              <a:t>农技员：多一份可核对清单</a:t>
            </a:r>
          </a:p>
          <a:p>
            <a:pPr marL="171450" indent="-171450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146C50"/>
                </a:solidFill>
                <a:latin typeface="微软雅黑"/>
                <a:ea typeface="微软雅黑"/>
              </a:rPr>
              <a:t>▪  </a:t>
            </a:r>
            <a:r>
              <a:rPr sz="1050" b="0">
                <a:solidFill>
                  <a:srgbClr val="18372E"/>
                </a:solidFill>
                <a:latin typeface="微软雅黑"/>
                <a:ea typeface="微软雅黑"/>
              </a:rPr>
              <a:t>后续：更多作物、真实登记、真实气象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61766D"/>
                </a:solidFill>
                <a:latin typeface="微软雅黑"/>
                <a:ea typeface="微软雅黑"/>
              </a:rPr>
              <a:t>创新不只在模型，而在‘模型规划 + 代码否决 + 证据组织’的组合。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田诊卫士 · 智能体版 · 智慧农业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0">
                <a:solidFill>
                  <a:srgbClr val="61766D"/>
                </a:solidFill>
                <a:latin typeface="微软雅黑"/>
                <a:ea typeface="微软雅黑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8D4BF"/>
                </a:solidFill>
                <a:latin typeface="微软雅黑"/>
                <a:ea typeface="微软雅黑"/>
              </a:rPr>
              <a:t>当前边界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先把能做的做扎实，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再把不能做的说清楚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34 / 40 条药剂记录仍待核验</a:t>
            </a:r>
          </a:p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天气为模拟数据，未接真实气象</a:t>
            </a:r>
          </a:p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未开展田间试用与专家独立核验</a:t>
            </a:r>
          </a:p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不签发正式田间处方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685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8D4BF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05156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完成具体产品现行登记核验</a:t>
            </a:r>
          </a:p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接入真实气象并核验当地规则</a:t>
            </a:r>
          </a:p>
          <a:p>
            <a:pPr marL="171450" indent="-171450"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D9A441"/>
                </a:solidFill>
                <a:latin typeface="微软雅黑"/>
                <a:ea typeface="微软雅黑"/>
              </a:rPr>
              <a:t>▪  </a:t>
            </a:r>
            <a:r>
              <a:rPr sz="1250" b="0">
                <a:solidFill>
                  <a:srgbClr val="D7E8DD"/>
                </a:solidFill>
                <a:latin typeface="微软雅黑"/>
                <a:ea typeface="微软雅黑"/>
              </a:rPr>
              <a:t>小规模用户任务测试与田间试点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2519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100" b="1">
                <a:solidFill>
                  <a:srgbClr val="D9A441"/>
                </a:solidFill>
                <a:latin typeface="微软雅黑"/>
                <a:ea typeface="微软雅黑"/>
              </a:rPr>
              <a:t>让创意被体验、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100" b="1">
                <a:solidFill>
                  <a:srgbClr val="D9A441"/>
                </a:solidFill>
                <a:latin typeface="微软雅黑"/>
                <a:ea typeface="微软雅黑"/>
              </a:rPr>
              <a:t>被演示、能继续迭代。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A8D4BF"/>
                </a:solidFill>
                <a:latin typeface="微软雅黑"/>
                <a:ea typeface="微软雅黑"/>
              </a:rPr>
              <a:t>田诊卫士 · 智能体版  ·  【队名】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989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50" b="0">
                <a:solidFill>
                  <a:srgbClr val="A8D4BF"/>
                </a:solidFill>
                <a:latin typeface="微软雅黑"/>
                <a:ea typeface="微软雅黑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